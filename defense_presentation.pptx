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828800"/>
            <a:ext cx="91440" cy="3200400"/>
          </a:xfrm>
          <a:prstGeom prst="rect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基于 C 语言与底层 Win32 API 的</a:t>
            </a:r>
            <a:br/>
            <a:r>
              <a:t>2D 矢量空战游戏设计与实现</a:t>
            </a:r>
          </a:p>
          <a:p>
            <a:pPr>
              <a:spcAft>
                <a:spcPts val="4000"/>
              </a:spcAft>
              <a:defRPr sz="1800">
                <a:solidFill>
                  <a:srgbClr val="B4B4C8"/>
                </a:solidFill>
                <a:latin typeface="Microsoft YaHei"/>
              </a:defRPr>
            </a:pPr>
            <a:r>
              <a:t>—— 探索轻量化渲染、非阻塞交互与静态内存优化的实时游戏开发</a:t>
            </a:r>
          </a:p>
          <a:p>
            <a:pPr>
              <a:defRPr sz="1400">
                <a:solidFill>
                  <a:srgbClr val="00FFFF"/>
                </a:solidFill>
                <a:latin typeface="Microsoft YaHei"/>
              </a:defRPr>
            </a:pPr>
            <a:r>
              <a:t>汇报人：你的名字   |   专业：计算机科学与技术   |   指导老师：老师名字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FFF"/>
                </a:solidFill>
                <a:latin typeface="Microsoft YaHei"/>
              </a:defRPr>
            </a:pPr>
            <a:r>
              <a:t>选题背景与立意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常规教学实践的局限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大多数 C 语言实践局限于学生管理系统等静态控制台程序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学生对高频实时系统（Real-time System）缺乏底层逻辑认知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对硬件中断、异步事件检测及内存碎片控制缺乏演练环境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FFFF"/>
                </a:solidFill>
              </a:defRPr>
            </a:pPr>
            <a:r>
              <a:t>本项目的研究立意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完全摆脱商用重型引擎，用纯 C99 标准进行底层游戏开发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直接与 Win32 硬件层进行非阻塞式高频异步数据交互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构建微秒级的轻量级渲染与快速内存复用机制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将离散数学、动力学公式与底层内存管理进行工程融合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FFF"/>
                </a:solidFill>
                <a:latin typeface="Microsoft YaHei"/>
              </a:defRPr>
            </a:pPr>
            <a:r>
              <a:t>技术栈与开发环境选型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三层架构技术选型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图形层 (EasyX Library)：轻量级窗口管理，免去复杂的 DX/GL 样板代码，专注于矢量渲染核心算法。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系统层 (Win32 API)：通过 &lt;windows.h&gt; 直接截获硬件中断状态，实现微秒级高频异步输入检测。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语言层 (Standard C99)：显式内存控制、指针操纵，最大化 CPU 运算能效，不依赖运行时垃圾回收机制。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FFFF"/>
                </a:solidFill>
              </a:defRPr>
            </a:pPr>
            <a:r>
              <a:t>工程开发环境配置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编译器：Microsoft Visual C++ (MSVC) / GCC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IDE 环境：Visual Studio 2022 / VS Code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调试工具：Windows Debugger / 显式内存泄漏检测工具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版本控制：Git 协作与本地分支演进管理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FFF"/>
                </a:solidFill>
                <a:latin typeface="Microsoft YaHei"/>
              </a:defRPr>
            </a:pPr>
            <a:r>
              <a:t>系统整体设计与有限状态机 (FSM)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游戏有限状态机 (FSM)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STATE_MENU (菜单态)：绘制粒子星空背景，渲染文字呼吸闪烁动画，阻塞等待 SPACE 键触发初始化。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STATE_PLAYING (游戏态)：执行主物理逻辑更新、多重碰撞检测循环、图层堆叠绘制渲染。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STATE_GAMEOVER (结算态)：停止物理更新，维持背景星空渲染，监听键盘复位 (R) 或退出 (ESC)。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FFFF"/>
                </a:solidFill>
              </a:defRPr>
            </a:pPr>
            <a:r>
              <a:t>帧率锁定与控制流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使用 Sleep(16) 将游戏主循环约束在 16ms 周期内（约 60 帧/秒）。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物理运动按帧计步：飞机坐标位移速度完全与硬件刷新率（屏幕扫描）保持一致，带来平滑视觉体验。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将数据控制（FSM）与渲染完全解耦，每个状态分支只调用当前状态所需的渲染函数。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FFF"/>
                </a:solidFill>
                <a:latin typeface="Microsoft YaHei"/>
              </a:defRPr>
            </a:pPr>
            <a:r>
              <a:t>数据结构设计与“静态对象池”内存管理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数据结构设计 (C 语言 Struct)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Player：玩家位置 (x,y)、尺寸 (w,h)、命数、无敌与开火冷却计时器。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Bullet &amp; Enemy：子弹与敌机的活动标记 active、血量、类型等属性。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Particle：爆炸粒子运动向量 (vx,vy)、当前寿命、最大寿命、活动状态。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所有结构体紧凑布局，最大化提升 CPU 缓存命中率。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FFFF"/>
                </a:solidFill>
              </a:defRPr>
            </a:pPr>
            <a:r>
              <a:t>静态对象池机制 (Object Pool)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避开动态内存管理：频繁调用 malloc/free 会产生严重的内存碎片，系统开销极大并会导致频繁卡顿。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预先分配：全局静态数组初始化 g_bullets[100] 与 g_enemies[50]。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安全回收：通过 getFreeBullet() 检索空闲 active 标记并激活，超出边界或击中时一键回收状态。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时间复杂度：实现 O(1) 的超高速无延迟内存复用，保证游戏流畅，杜绝任何内存泄露漏洞。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FFF"/>
                </a:solidFill>
                <a:latin typeface="Microsoft YaHei"/>
              </a:defRPr>
            </a:pPr>
            <a:r>
              <a:t>开发难点解析一：非阻塞异步按键处理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技术挑战与瓶颈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C 语言自带的输入函数（如 scanf、getch）属于阻塞式，会导致主线程静止等待，无法用于实时游戏。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不支持多键无冲突并按，玩家无法在斜向飞行的同时进行高频射击。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键盘重复延迟会导致连续输入出现卡顿感。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FFFF"/>
                </a:solidFill>
              </a:defRPr>
            </a:pPr>
            <a:r>
              <a:t>非阻塞掩码按键宏解决方案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核心代码：#define KEY_DOWN(vk) ((GetAsyncKeyState(vk) &amp; 0x8000) ? 1 : 0)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硬件级直接查询：通过 Win32 API 异步侦察硬件按键物理电平，毫秒级反馈且绝不卡死进程。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掩码位运算：使用 0x8000 (二进制 1000 0000 0000 0000) 与系统返回值进行 AND 运算，精准提取最高位状态。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多键并行：各判定独立执行，玩家能完美多键无冲突并按，实现丝滑的斜方向移动。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FFF"/>
                </a:solidFill>
                <a:latin typeface="Microsoft YaHei"/>
              </a:defRPr>
            </a:pPr>
            <a:r>
              <a:t>开发难点解析二：高频消隐与双缓冲渲染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技术挑战与闪烁成因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实时游戏每秒重绘 60 次，直接在屏幕物理画布上频繁“擦除并画画”，会导致显示器捕捉到未画完的“半成品”。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同屏处理数百个几何矢量体时，高频硬件刷新会造成强烈的、刺眼的屏幕闪烁。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图形层级重叠错误，导致飞机、子弹互相覆盖异常。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FFFF"/>
                </a:solidFill>
              </a:defRPr>
            </a:pPr>
            <a:r>
              <a:t>双缓冲与图层渲染控制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使用 BeginBatchDraw() 锁定物理前台，将所有几何绘制指令拦截在隐藏的后台内存画布中。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待整帧（背景星空、子弹、粒子、飞机、UI）拼接堆叠完毕后，调用 FlushBatchDraw() 一瞬间复制到屏幕。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图层渲染顺序控制：背景 -&gt; 道具/子弹 -&gt; 敌机 -&gt; 粒子 -&gt; 玩家机体 -&gt; 顶层 UI。保证无任何视觉遮挡 Bug。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FFF"/>
                </a:solidFill>
                <a:latin typeface="Microsoft YaHei"/>
              </a:defRPr>
            </a:pPr>
            <a:r>
              <a:t>算法亮点：AABB 碰撞检测与动力学拟真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AABB 碰撞算法与边界检测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中心与对称性建模：将游戏实体抽象为 Axis-Aligned Bounding Box (AABB) 轴对齐包围盒模型。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边界极限计算：依据中心 (x,y) 和 (w,h) 推导 Left/Right/Top/Bottom 四向边界。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碰撞检测核心公式：(l1 &lt; r2 &amp;&amp; r1 &gt; l2 &amp;&amp; t1 &lt; b2 &amp;&amp; b1 &gt; t2)。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极佳的运算效率：在大循环（子弹 100 x 敌人 50）中，耗时近乎为零，对物理帧率无任何负面抖动。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FFFF"/>
                </a:solidFill>
              </a:defRPr>
            </a:pPr>
            <a:r>
              <a:t>物理动力学与渐变数值拟真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正弦漂移：大飞机横向叠加 sinf(frameCount * 0.05f) * 1.5f 位移，模拟空气阻力下的平滑摆动。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重力加速度拟真：碎片爆发后垂直速度高频加算 vy += 0.15f，呈现流畅的拟真抛物线下坠轨迹。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粒子寿命光衰退计算：依据 ratio = life/maxLife 比例，动态插值计算 RGB 颜色通道（黄-&gt;橙-&gt;深红）及半径大小。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FFF"/>
                </a:solidFill>
                <a:latin typeface="Microsoft YaHei"/>
              </a:defRPr>
            </a:pPr>
            <a:r>
              <a:t>系统业务流设计与游戏渐进式机制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高内聚的系统业务流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输入捕获 -&gt; 玩家数据更新 -&gt; 子弹运动物理更新 -&gt; 敌机运动与自动生成 -&gt; 多重交叉碰撞检测 -&gt; 粒子状态更新 -&gt; 全画面批量重绘。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主循环每帧（16ms）无卡顿地完整清洗上述数据队列，各模块通过函数指针级高内聚组织。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FFFF"/>
                </a:solidFill>
              </a:defRPr>
            </a:pPr>
            <a:r>
              <a:t>渐进式难度与防御保障机制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自适应动态出怪率：g_enemySpawnRate = imax(15, 45 - g_score/500)。随着分数升高，出怪频率呈指数提升，难度渐进式增加。</a:t>
            </a:r>
          </a:p>
          <a:p>
            <a:pPr>
              <a:spcAft>
                <a:spcPts val="1200"/>
              </a:spcAft>
              <a:defRPr sz="1400">
                <a:solidFill>
                  <a:srgbClr val="B4B4C8"/>
                </a:solidFill>
              </a:defRPr>
            </a:pPr>
            <a:r>
              <a:t>• 无敌防护盾（invTimer）：刚出生或撞击后赋予 90 帧无敌时间（此时飞机交替闪烁表示），极大优化了连续受击的游戏体验。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FFF"/>
                </a:solidFill>
                <a:latin typeface="Microsoft YaHei"/>
              </a:defRPr>
            </a:pPr>
            <a:r>
              <a:t>系统设计总结与未来优化展望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工程实践与设计总结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成功使用纯 C 语言与系统级 Win32 API 搭建出一个非阻塞的高帧率 2D 实时图形交互系统。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在零图片依赖、常驻几百个活动粒子的极限混战情况下，CPU 占用率牢牢控制在 1% 以下，编译后程序大小仅数百 KB。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系统深刻锻炼了对结构体指针、静态对象池复用、非阻塞输入检测、二进制位运算、经典图形学及双缓冲流水线的实战能力。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FFFF"/>
                </a:solidFill>
              </a:defRPr>
            </a:pPr>
            <a:r>
              <a:t>未来优化方向展望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引入高精度 Delta Time（时间物理步长分离）：彻底让逻辑物理位移与刷新率帧率解耦，完美自适应当前主流的 144Hz 甚至更高刷新率电竞显示器。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音效管理（Windows MCI）：使用系统级 mciSendString 多线程加载外部音效，丰富游戏的视听表现。</a:t>
            </a:r>
          </a:p>
          <a:p>
            <a:pPr>
              <a:spcAft>
                <a:spcPts val="1000"/>
              </a:spcAft>
              <a:defRPr sz="1400">
                <a:solidFill>
                  <a:srgbClr val="B4B4C8"/>
                </a:solidFill>
              </a:defRPr>
            </a:pPr>
            <a:r>
              <a:t>• 行为树 AI：为后期 Boss 战引入更高级的行为决策树 AI 模型，设计复杂的子弹躲避及编队运动策略。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91440" cy="2743200"/>
          </a:xfrm>
          <a:prstGeom prst="rect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感谢各位老师的聆听！</a:t>
            </a:r>
          </a:p>
          <a:p>
            <a:pPr>
              <a:spcAft>
                <a:spcPts val="4000"/>
              </a:spcAft>
              <a:defRPr sz="2200">
                <a:solidFill>
                  <a:srgbClr val="B4B4C8"/>
                </a:solidFill>
                <a:latin typeface="Microsoft YaHei"/>
              </a:defRPr>
            </a:pPr>
            <a:r>
              <a:t>恳请各位评委老师批评指正</a:t>
            </a:r>
          </a:p>
          <a:p>
            <a:pPr>
              <a:defRPr sz="1600" b="1">
                <a:solidFill>
                  <a:srgbClr val="00FFFF"/>
                </a:solidFill>
                <a:latin typeface="Consolas"/>
              </a:defRPr>
            </a:pPr>
            <a:r>
              <a:t>THE END. WELCOME TO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